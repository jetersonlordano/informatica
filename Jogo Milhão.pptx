
<file path=[Content_Types].xml><?xml version="1.0" encoding="utf-8"?>
<Types xmlns="http://schemas.openxmlformats.org/package/2006/content-types">
  <Default Extension="png" ContentType="image/png"/>
  <Default Extension="mp3" ContentType="audio/mpe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59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746"/>
    <a:srgbClr val="350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648" y="9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549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92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8459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110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582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691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4783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8853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332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546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002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2356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8854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8485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7906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83296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989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61ED3EC-EC32-4587-8B2F-D897EC746E3B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978E8535-6390-46A6-8036-ED8B20160A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8134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gif"/><Relationship Id="rId3" Type="http://schemas.microsoft.com/office/2007/relationships/media" Target="../media/media3.mp3"/><Relationship Id="rId7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audio" Target="../media/media4.mp3"/><Relationship Id="rId11" Type="http://schemas.openxmlformats.org/officeDocument/2006/relationships/image" Target="../media/image4.png"/><Relationship Id="rId5" Type="http://schemas.microsoft.com/office/2007/relationships/media" Target="../media/media4.mp3"/><Relationship Id="rId10" Type="http://schemas.openxmlformats.org/officeDocument/2006/relationships/slide" Target="slide4.xml"/><Relationship Id="rId4" Type="http://schemas.openxmlformats.org/officeDocument/2006/relationships/audio" Target="../media/media3.mp3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4.png"/><Relationship Id="rId5" Type="http://schemas.openxmlformats.org/officeDocument/2006/relationships/image" Target="../media/image5.gi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4.png"/><Relationship Id="rId5" Type="http://schemas.openxmlformats.org/officeDocument/2006/relationships/image" Target="../media/image6.gif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gif"/><Relationship Id="rId3" Type="http://schemas.microsoft.com/office/2007/relationships/media" Target="../media/media3.mp3"/><Relationship Id="rId7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audio" Target="../media/media4.mp3"/><Relationship Id="rId11" Type="http://schemas.openxmlformats.org/officeDocument/2006/relationships/image" Target="../media/image4.png"/><Relationship Id="rId5" Type="http://schemas.microsoft.com/office/2007/relationships/media" Target="../media/media4.mp3"/><Relationship Id="rId10" Type="http://schemas.openxmlformats.org/officeDocument/2006/relationships/image" Target="../media/image3.png"/><Relationship Id="rId4" Type="http://schemas.openxmlformats.org/officeDocument/2006/relationships/audio" Target="../media/media3.mp3"/><Relationship Id="rId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4.png"/><Relationship Id="rId5" Type="http://schemas.openxmlformats.org/officeDocument/2006/relationships/image" Target="../media/image5.gif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4.png"/><Relationship Id="rId5" Type="http://schemas.openxmlformats.org/officeDocument/2006/relationships/image" Target="../media/image6.gif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gif"/><Relationship Id="rId3" Type="http://schemas.microsoft.com/office/2007/relationships/media" Target="../media/media3.mp3"/><Relationship Id="rId7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audio" Target="../media/media4.mp3"/><Relationship Id="rId11" Type="http://schemas.openxmlformats.org/officeDocument/2006/relationships/image" Target="../media/image4.png"/><Relationship Id="rId5" Type="http://schemas.microsoft.com/office/2007/relationships/media" Target="../media/media4.mp3"/><Relationship Id="rId10" Type="http://schemas.openxmlformats.org/officeDocument/2006/relationships/slide" Target="slide10.xml"/><Relationship Id="rId4" Type="http://schemas.openxmlformats.org/officeDocument/2006/relationships/audio" Target="../media/media3.mp3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4.png"/><Relationship Id="rId5" Type="http://schemas.openxmlformats.org/officeDocument/2006/relationships/image" Target="../media/image5.gif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4.png"/><Relationship Id="rId5" Type="http://schemas.openxmlformats.org/officeDocument/2006/relationships/image" Target="../media/image6.gif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4.png"/><Relationship Id="rId5" Type="http://schemas.openxmlformats.org/officeDocument/2006/relationships/image" Target="../media/image7.gif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rgbClr val="001746"/>
            </a:gs>
            <a:gs pos="100000">
              <a:srgbClr val="3506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Saberes e Fazeres em Nossas Mãos: RECEITA DE BOLO DE MILHO: MONTE SUA  ATIVIDADE E SUA AULA REMOTA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831" y="-180975"/>
            <a:ext cx="5461794" cy="637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5" y="533400"/>
            <a:ext cx="6923839" cy="3898558"/>
          </a:xfrm>
          <a:prstGeom prst="rect">
            <a:avLst/>
          </a:prstGeom>
        </p:spPr>
      </p:pic>
      <p:sp>
        <p:nvSpPr>
          <p:cNvPr id="7" name="Retângulo de cantos arredondados 6">
            <a:hlinkClick r:id="" action="ppaction://hlinkshowjump?jump=nextslide"/>
          </p:cNvPr>
          <p:cNvSpPr/>
          <p:nvPr/>
        </p:nvSpPr>
        <p:spPr>
          <a:xfrm>
            <a:off x="1890084" y="4431958"/>
            <a:ext cx="4115219" cy="1305150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b="1" dirty="0" smtClean="0"/>
              <a:t>Iniciar</a:t>
            </a:r>
            <a:endParaRPr lang="pt-BR" sz="3200" b="1" dirty="0"/>
          </a:p>
        </p:txBody>
      </p:sp>
      <p:pic>
        <p:nvPicPr>
          <p:cNvPr id="12" name="intro-show-do-milha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85775" y="-112040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547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6157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2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rgbClr val="001746"/>
            </a:gs>
            <a:gs pos="100000">
              <a:srgbClr val="3506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Saberes e Fazeres em Nossas Mãos: RECEITA DE BOLO DE MILHO: MONTE SUA  ATIVIDADE E SUA AULA REMOTA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299" y="1661765"/>
            <a:ext cx="3935501" cy="4596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de cantos arredondados 1"/>
          <p:cNvSpPr/>
          <p:nvPr/>
        </p:nvSpPr>
        <p:spPr>
          <a:xfrm>
            <a:off x="1459706" y="759193"/>
            <a:ext cx="9272588" cy="1266825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 smtClean="0"/>
              <a:t>O que é um Arquipélago?</a:t>
            </a:r>
            <a:endParaRPr lang="pt-BR" sz="2800" b="1" dirty="0"/>
          </a:p>
        </p:txBody>
      </p:sp>
      <p:grpSp>
        <p:nvGrpSpPr>
          <p:cNvPr id="4" name="Grupo 3"/>
          <p:cNvGrpSpPr/>
          <p:nvPr/>
        </p:nvGrpSpPr>
        <p:grpSpPr>
          <a:xfrm>
            <a:off x="1743077" y="2675259"/>
            <a:ext cx="5689923" cy="654695"/>
            <a:chOff x="1743077" y="2453952"/>
            <a:chExt cx="5689923" cy="654695"/>
          </a:xfrm>
        </p:grpSpPr>
        <p:sp>
          <p:nvSpPr>
            <p:cNvPr id="8" name="Retângulo de cantos arredondados 7">
              <a:hlinkClick r:id="" action="ppaction://hlinkshowjump?jump=lastslide"/>
            </p:cNvPr>
            <p:cNvSpPr/>
            <p:nvPr/>
          </p:nvSpPr>
          <p:spPr>
            <a:xfrm>
              <a:off x="2032325" y="2511240"/>
              <a:ext cx="5400675" cy="540118"/>
            </a:xfrm>
            <a:prstGeom prst="round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/>
                <a:t> </a:t>
              </a:r>
              <a:r>
                <a:rPr lang="pt-BR" dirty="0" smtClean="0"/>
                <a:t>       Um grupo de Arqueólogos.</a:t>
              </a:r>
              <a:endParaRPr lang="pt-BR" dirty="0"/>
            </a:p>
          </p:txBody>
        </p:sp>
        <p:sp>
          <p:nvSpPr>
            <p:cNvPr id="3" name="Elipse 2">
              <a:hlinkClick r:id="" action="ppaction://hlinkshowjump?jump=lastslide"/>
            </p:cNvPr>
            <p:cNvSpPr/>
            <p:nvPr/>
          </p:nvSpPr>
          <p:spPr>
            <a:xfrm>
              <a:off x="1743077" y="2453952"/>
              <a:ext cx="654695" cy="65469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pic>
        <p:nvPicPr>
          <p:cNvPr id="12" name="Imagem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9799" y="-217396"/>
            <a:ext cx="3789274" cy="2133600"/>
          </a:xfrm>
          <a:prstGeom prst="rect">
            <a:avLst/>
          </a:prstGeom>
        </p:spPr>
      </p:pic>
      <p:grpSp>
        <p:nvGrpSpPr>
          <p:cNvPr id="13" name="Grupo 12"/>
          <p:cNvGrpSpPr/>
          <p:nvPr/>
        </p:nvGrpSpPr>
        <p:grpSpPr>
          <a:xfrm>
            <a:off x="1743077" y="3556321"/>
            <a:ext cx="5689923" cy="654695"/>
            <a:chOff x="1743077" y="2453952"/>
            <a:chExt cx="5689923" cy="654695"/>
          </a:xfrm>
        </p:grpSpPr>
        <p:sp>
          <p:nvSpPr>
            <p:cNvPr id="14" name="Retângulo de cantos arredondados 13">
              <a:hlinkClick r:id="rId10" action="ppaction://hlinksldjump"/>
            </p:cNvPr>
            <p:cNvSpPr/>
            <p:nvPr/>
          </p:nvSpPr>
          <p:spPr>
            <a:xfrm>
              <a:off x="2032325" y="2511240"/>
              <a:ext cx="5400675" cy="540118"/>
            </a:xfrm>
            <a:prstGeom prst="round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/>
                <a:t> </a:t>
              </a:r>
              <a:r>
                <a:rPr lang="pt-BR" dirty="0" smtClean="0"/>
                <a:t>       Um conjunto </a:t>
              </a:r>
              <a:r>
                <a:rPr lang="pt-BR" dirty="0"/>
                <a:t>de </a:t>
              </a:r>
              <a:r>
                <a:rPr lang="pt-BR" dirty="0" smtClean="0"/>
                <a:t>ilhas.</a:t>
              </a:r>
              <a:endParaRPr lang="pt-BR" dirty="0"/>
            </a:p>
          </p:txBody>
        </p:sp>
        <p:sp>
          <p:nvSpPr>
            <p:cNvPr id="15" name="Elipse 14">
              <a:hlinkClick r:id="rId10" action="ppaction://hlinksldjump"/>
            </p:cNvPr>
            <p:cNvSpPr/>
            <p:nvPr/>
          </p:nvSpPr>
          <p:spPr>
            <a:xfrm>
              <a:off x="1743077" y="2453952"/>
              <a:ext cx="654695" cy="65469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6" name="Grupo 15"/>
          <p:cNvGrpSpPr/>
          <p:nvPr/>
        </p:nvGrpSpPr>
        <p:grpSpPr>
          <a:xfrm>
            <a:off x="1743077" y="4437383"/>
            <a:ext cx="5689923" cy="654695"/>
            <a:chOff x="1743077" y="2453952"/>
            <a:chExt cx="5689923" cy="654695"/>
          </a:xfrm>
        </p:grpSpPr>
        <p:sp>
          <p:nvSpPr>
            <p:cNvPr id="17" name="Retângulo de cantos arredondados 16">
              <a:hlinkClick r:id="" action="ppaction://hlinkshowjump?jump=lastslide"/>
            </p:cNvPr>
            <p:cNvSpPr/>
            <p:nvPr/>
          </p:nvSpPr>
          <p:spPr>
            <a:xfrm>
              <a:off x="2032325" y="2511240"/>
              <a:ext cx="5400675" cy="540118"/>
            </a:xfrm>
            <a:prstGeom prst="round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/>
                <a:t> </a:t>
              </a:r>
              <a:r>
                <a:rPr lang="pt-BR" dirty="0" smtClean="0"/>
                <a:t>       Uma faculdade Arqueologia.</a:t>
              </a:r>
              <a:endParaRPr lang="pt-BR" dirty="0"/>
            </a:p>
          </p:txBody>
        </p:sp>
        <p:sp>
          <p:nvSpPr>
            <p:cNvPr id="18" name="Elipse 17">
              <a:hlinkClick r:id="" action="ppaction://hlinkshowjump?jump=lastslide"/>
            </p:cNvPr>
            <p:cNvSpPr/>
            <p:nvPr/>
          </p:nvSpPr>
          <p:spPr>
            <a:xfrm>
              <a:off x="1743077" y="2453952"/>
              <a:ext cx="654695" cy="65469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pt-B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1743077" y="5318446"/>
            <a:ext cx="5689923" cy="654695"/>
            <a:chOff x="1743077" y="2453952"/>
            <a:chExt cx="5689923" cy="654695"/>
          </a:xfrm>
        </p:grpSpPr>
        <p:sp>
          <p:nvSpPr>
            <p:cNvPr id="20" name="Retângulo de cantos arredondados 19">
              <a:hlinkClick r:id="" action="ppaction://hlinkshowjump?jump=lastslide"/>
            </p:cNvPr>
            <p:cNvSpPr/>
            <p:nvPr/>
          </p:nvSpPr>
          <p:spPr>
            <a:xfrm>
              <a:off x="2032325" y="2511240"/>
              <a:ext cx="5400675" cy="540118"/>
            </a:xfrm>
            <a:prstGeom prst="round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/>
                <a:t> </a:t>
              </a:r>
              <a:r>
                <a:rPr lang="pt-BR" dirty="0" smtClean="0"/>
                <a:t>       Um tipo de arco e flecha.</a:t>
              </a:r>
              <a:endParaRPr lang="pt-BR" dirty="0"/>
            </a:p>
          </p:txBody>
        </p:sp>
        <p:sp>
          <p:nvSpPr>
            <p:cNvPr id="21" name="Elipse 20">
              <a:hlinkClick r:id="" action="ppaction://hlinkshowjump?jump=lastslide"/>
            </p:cNvPr>
            <p:cNvSpPr/>
            <p:nvPr/>
          </p:nvSpPr>
          <p:spPr>
            <a:xfrm>
              <a:off x="1743077" y="2453952"/>
              <a:ext cx="654695" cy="65469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</p:grpSp>
      <p:pic>
        <p:nvPicPr>
          <p:cNvPr id="5" name="boa-sorte-show-do-milha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743077" y="-1686688"/>
            <a:ext cx="487363" cy="487363"/>
          </a:xfrm>
          <a:prstGeom prst="rect">
            <a:avLst/>
          </a:prstGeom>
        </p:spPr>
      </p:pic>
      <p:pic>
        <p:nvPicPr>
          <p:cNvPr id="22" name="perguntashowdomilhao_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5608637" y="-1709460"/>
            <a:ext cx="487363" cy="487362"/>
          </a:xfrm>
          <a:prstGeom prst="rect">
            <a:avLst/>
          </a:prstGeom>
        </p:spPr>
      </p:pic>
      <p:pic>
        <p:nvPicPr>
          <p:cNvPr id="23" name="suspense-show-do-milhao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428038" y="-1953141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898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30000">
        <p:circle/>
      </p:transition>
    </mc:Choice>
    <mc:Fallback>
      <p:transition spd="slow" advTm="30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235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1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52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121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371"/>
                            </p:stCondLst>
                            <p:childTnLst>
                              <p:par>
                                <p:cTn id="4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5" dur="10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4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 showWhenStopped="0">
                <p:cTn id="48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rgbClr val="001746"/>
            </a:gs>
            <a:gs pos="100000">
              <a:srgbClr val="3506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824" y="154079"/>
            <a:ext cx="3194218" cy="1798546"/>
          </a:xfrm>
          <a:prstGeom prst="rect">
            <a:avLst/>
          </a:prstGeom>
        </p:spPr>
      </p:pic>
      <p:pic>
        <p:nvPicPr>
          <p:cNvPr id="2050" name="Picture 2" descr="Corn Gif GIFs | Tenor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900" y="763679"/>
            <a:ext cx="5988050" cy="4557172"/>
          </a:xfrm>
          <a:prstGeom prst="rect">
            <a:avLst/>
          </a:prstGeom>
          <a:noFill/>
          <a:effectLst>
            <a:softEdge rad="4572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tângulo 21"/>
          <p:cNvSpPr/>
          <p:nvPr/>
        </p:nvSpPr>
        <p:spPr>
          <a:xfrm>
            <a:off x="2534593" y="5195637"/>
            <a:ext cx="7294592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6600" b="1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Seu tempo acabou!</a:t>
            </a:r>
            <a:endParaRPr lang="pt-BR" sz="28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4" name="Retângulo de cantos arredondados 23">
            <a:hlinkClick r:id="" action="ppaction://hlinkshowjump?jump=firstslide"/>
          </p:cNvPr>
          <p:cNvSpPr/>
          <p:nvPr/>
        </p:nvSpPr>
        <p:spPr>
          <a:xfrm>
            <a:off x="281977" y="2248198"/>
            <a:ext cx="2252616" cy="714422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 smtClean="0"/>
              <a:t>Reiniciar</a:t>
            </a:r>
            <a:endParaRPr lang="pt-BR" sz="1400" b="1" dirty="0"/>
          </a:p>
        </p:txBody>
      </p:sp>
      <p:pic>
        <p:nvPicPr>
          <p:cNvPr id="2" name="tempo-acabou-show-do-milha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322638" y="-1720850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12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705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rgbClr val="001746"/>
            </a:gs>
            <a:gs pos="100000">
              <a:srgbClr val="3506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824" y="154079"/>
            <a:ext cx="3194218" cy="1798546"/>
          </a:xfrm>
          <a:prstGeom prst="rect">
            <a:avLst/>
          </a:prstGeom>
        </p:spPr>
      </p:pic>
      <p:pic>
        <p:nvPicPr>
          <p:cNvPr id="7174" name="Picture 6" descr="Receitas para Festas Juninas: Pamonha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614" y="1525792"/>
            <a:ext cx="1767551" cy="3046208"/>
          </a:xfrm>
          <a:prstGeom prst="rect">
            <a:avLst/>
          </a:prstGeom>
          <a:noFill/>
          <a:effectLst>
            <a:glow rad="1397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113765" y="4979015"/>
            <a:ext cx="59339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CERTA RESPOSTA!</a:t>
            </a:r>
            <a:endParaRPr lang="pt-BR" sz="5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4" name="certa-resposta-show-do-milha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967230" y="-185832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245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:dissolve/>
      </p:transition>
    </mc:Choice>
    <mc:Fallback>
      <p:transition spd="slow" advClick="0" advTm="500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50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rgbClr val="001746"/>
            </a:gs>
            <a:gs pos="100000">
              <a:srgbClr val="3506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Saberes e Fazeres em Nossas Mãos: RECEITA DE BOLO DE MILHO: MONTE SUA  ATIVIDADE E SUA AULA REMOTA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299" y="1661765"/>
            <a:ext cx="3935501" cy="4596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de cantos arredondados 1"/>
          <p:cNvSpPr/>
          <p:nvPr/>
        </p:nvSpPr>
        <p:spPr>
          <a:xfrm>
            <a:off x="1459706" y="759193"/>
            <a:ext cx="9272588" cy="1266825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 smtClean="0"/>
              <a:t>O piano pertence a qual</a:t>
            </a:r>
          </a:p>
          <a:p>
            <a:pPr algn="ctr"/>
            <a:r>
              <a:rPr lang="pt-BR" sz="2800" b="1" dirty="0" smtClean="0"/>
              <a:t>família de instrumentos?</a:t>
            </a:r>
            <a:endParaRPr lang="pt-BR" sz="2800" b="1" dirty="0"/>
          </a:p>
        </p:txBody>
      </p:sp>
      <p:grpSp>
        <p:nvGrpSpPr>
          <p:cNvPr id="4" name="Grupo 3"/>
          <p:cNvGrpSpPr/>
          <p:nvPr/>
        </p:nvGrpSpPr>
        <p:grpSpPr>
          <a:xfrm>
            <a:off x="1743077" y="2675259"/>
            <a:ext cx="5689923" cy="654695"/>
            <a:chOff x="1743077" y="2453952"/>
            <a:chExt cx="5689923" cy="654695"/>
          </a:xfrm>
        </p:grpSpPr>
        <p:sp>
          <p:nvSpPr>
            <p:cNvPr id="8" name="Retângulo de cantos arredondados 7">
              <a:hlinkClick r:id="rId9" action="ppaction://hlinksldjump"/>
            </p:cNvPr>
            <p:cNvSpPr/>
            <p:nvPr/>
          </p:nvSpPr>
          <p:spPr>
            <a:xfrm>
              <a:off x="2032325" y="2511240"/>
              <a:ext cx="5400675" cy="540118"/>
            </a:xfrm>
            <a:prstGeom prst="round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 smtClean="0"/>
                <a:t>        Família das cordas.</a:t>
              </a:r>
              <a:endParaRPr lang="pt-BR" dirty="0"/>
            </a:p>
          </p:txBody>
        </p:sp>
        <p:sp>
          <p:nvSpPr>
            <p:cNvPr id="3" name="Elipse 2">
              <a:hlinkClick r:id="rId9" action="ppaction://hlinksldjump"/>
            </p:cNvPr>
            <p:cNvSpPr/>
            <p:nvPr/>
          </p:nvSpPr>
          <p:spPr>
            <a:xfrm>
              <a:off x="1743077" y="2453952"/>
              <a:ext cx="654695" cy="65469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pic>
        <p:nvPicPr>
          <p:cNvPr id="12" name="Imagem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9799" y="-217396"/>
            <a:ext cx="3789274" cy="2133600"/>
          </a:xfrm>
          <a:prstGeom prst="rect">
            <a:avLst/>
          </a:prstGeom>
        </p:spPr>
      </p:pic>
      <p:grpSp>
        <p:nvGrpSpPr>
          <p:cNvPr id="13" name="Grupo 12"/>
          <p:cNvGrpSpPr/>
          <p:nvPr/>
        </p:nvGrpSpPr>
        <p:grpSpPr>
          <a:xfrm>
            <a:off x="1743077" y="3556321"/>
            <a:ext cx="5689923" cy="654695"/>
            <a:chOff x="1743077" y="2453952"/>
            <a:chExt cx="5689923" cy="654695"/>
          </a:xfrm>
        </p:grpSpPr>
        <p:sp>
          <p:nvSpPr>
            <p:cNvPr id="14" name="Retângulo de cantos arredondados 13">
              <a:hlinkClick r:id="" action="ppaction://hlinkshowjump?jump=lastslide"/>
            </p:cNvPr>
            <p:cNvSpPr/>
            <p:nvPr/>
          </p:nvSpPr>
          <p:spPr>
            <a:xfrm>
              <a:off x="2032325" y="2511240"/>
              <a:ext cx="5400675" cy="540118"/>
            </a:xfrm>
            <a:prstGeom prst="round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/>
                <a:t> </a:t>
              </a:r>
              <a:r>
                <a:rPr lang="pt-BR" dirty="0" smtClean="0"/>
                <a:t>       Família das teclas.</a:t>
              </a:r>
              <a:endParaRPr lang="pt-BR" dirty="0"/>
            </a:p>
          </p:txBody>
        </p:sp>
        <p:sp>
          <p:nvSpPr>
            <p:cNvPr id="15" name="Elipse 14">
              <a:hlinkClick r:id="" action="ppaction://hlinkshowjump?jump=lastslide"/>
            </p:cNvPr>
            <p:cNvSpPr/>
            <p:nvPr/>
          </p:nvSpPr>
          <p:spPr>
            <a:xfrm>
              <a:off x="1743077" y="2453952"/>
              <a:ext cx="654695" cy="65469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6" name="Grupo 15"/>
          <p:cNvGrpSpPr/>
          <p:nvPr/>
        </p:nvGrpSpPr>
        <p:grpSpPr>
          <a:xfrm>
            <a:off x="1743077" y="4437383"/>
            <a:ext cx="5689923" cy="654695"/>
            <a:chOff x="1743077" y="2453952"/>
            <a:chExt cx="5689923" cy="654695"/>
          </a:xfrm>
        </p:grpSpPr>
        <p:sp>
          <p:nvSpPr>
            <p:cNvPr id="17" name="Retângulo de cantos arredondados 16">
              <a:hlinkClick r:id="" action="ppaction://hlinkshowjump?jump=lastslide"/>
            </p:cNvPr>
            <p:cNvSpPr/>
            <p:nvPr/>
          </p:nvSpPr>
          <p:spPr>
            <a:xfrm>
              <a:off x="2032325" y="2511240"/>
              <a:ext cx="5400675" cy="540118"/>
            </a:xfrm>
            <a:prstGeom prst="round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/>
                <a:t> </a:t>
              </a:r>
              <a:r>
                <a:rPr lang="pt-BR" dirty="0" smtClean="0"/>
                <a:t>       Família de percussão.</a:t>
              </a:r>
              <a:endParaRPr lang="pt-BR" dirty="0"/>
            </a:p>
          </p:txBody>
        </p:sp>
        <p:sp>
          <p:nvSpPr>
            <p:cNvPr id="18" name="Elipse 17">
              <a:hlinkClick r:id="" action="ppaction://hlinkshowjump?jump=lastslide"/>
            </p:cNvPr>
            <p:cNvSpPr/>
            <p:nvPr/>
          </p:nvSpPr>
          <p:spPr>
            <a:xfrm>
              <a:off x="1743077" y="2453952"/>
              <a:ext cx="654695" cy="65469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pt-B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1743077" y="5318446"/>
            <a:ext cx="5689923" cy="654695"/>
            <a:chOff x="1743077" y="2453952"/>
            <a:chExt cx="5689923" cy="654695"/>
          </a:xfrm>
        </p:grpSpPr>
        <p:sp>
          <p:nvSpPr>
            <p:cNvPr id="20" name="Retângulo de cantos arredondados 19">
              <a:hlinkClick r:id="" action="ppaction://hlinkshowjump?jump=lastslide"/>
            </p:cNvPr>
            <p:cNvSpPr/>
            <p:nvPr/>
          </p:nvSpPr>
          <p:spPr>
            <a:xfrm>
              <a:off x="2032325" y="2511240"/>
              <a:ext cx="5400675" cy="540118"/>
            </a:xfrm>
            <a:prstGeom prst="round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/>
                <a:t> </a:t>
              </a:r>
              <a:r>
                <a:rPr lang="pt-BR" dirty="0" smtClean="0"/>
                <a:t>       Família de sopro.</a:t>
              </a:r>
              <a:endParaRPr lang="pt-BR" dirty="0"/>
            </a:p>
          </p:txBody>
        </p:sp>
        <p:sp>
          <p:nvSpPr>
            <p:cNvPr id="21" name="Elipse 20">
              <a:hlinkClick r:id="" action="ppaction://hlinkshowjump?jump=lastslide"/>
            </p:cNvPr>
            <p:cNvSpPr/>
            <p:nvPr/>
          </p:nvSpPr>
          <p:spPr>
            <a:xfrm>
              <a:off x="1743077" y="2453952"/>
              <a:ext cx="654695" cy="65469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</p:grpSp>
      <p:pic>
        <p:nvPicPr>
          <p:cNvPr id="5" name="boa-sorte-show-do-milha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743077" y="-1686688"/>
            <a:ext cx="487363" cy="487363"/>
          </a:xfrm>
          <a:prstGeom prst="rect">
            <a:avLst/>
          </a:prstGeom>
        </p:spPr>
      </p:pic>
      <p:pic>
        <p:nvPicPr>
          <p:cNvPr id="22" name="perguntashowdomilhao_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5608637" y="-1709460"/>
            <a:ext cx="487363" cy="487362"/>
          </a:xfrm>
          <a:prstGeom prst="rect">
            <a:avLst/>
          </a:prstGeom>
        </p:spPr>
      </p:pic>
      <p:pic>
        <p:nvPicPr>
          <p:cNvPr id="23" name="suspense-show-do-milhao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428038" y="-1953141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027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30000">
        <p:circle/>
      </p:transition>
    </mc:Choice>
    <mc:Fallback>
      <p:transition spd="slow" advTm="30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235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1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52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121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371"/>
                            </p:stCondLst>
                            <p:childTnLst>
                              <p:par>
                                <p:cTn id="4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5" dur="10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4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 showWhenStopped="0">
                <p:cTn id="48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rgbClr val="001746"/>
            </a:gs>
            <a:gs pos="100000">
              <a:srgbClr val="3506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824" y="154079"/>
            <a:ext cx="3194218" cy="1798546"/>
          </a:xfrm>
          <a:prstGeom prst="rect">
            <a:avLst/>
          </a:prstGeom>
        </p:spPr>
      </p:pic>
      <p:pic>
        <p:nvPicPr>
          <p:cNvPr id="2050" name="Picture 2" descr="Corn Gif GIFs | Tenor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900" y="763679"/>
            <a:ext cx="5988050" cy="4557172"/>
          </a:xfrm>
          <a:prstGeom prst="rect">
            <a:avLst/>
          </a:prstGeom>
          <a:noFill/>
          <a:effectLst>
            <a:softEdge rad="4572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tângulo 21"/>
          <p:cNvSpPr/>
          <p:nvPr/>
        </p:nvSpPr>
        <p:spPr>
          <a:xfrm>
            <a:off x="2534593" y="5195637"/>
            <a:ext cx="7294592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6600" b="1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Seu tempo acabou!</a:t>
            </a:r>
            <a:endParaRPr lang="pt-BR" sz="28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4" name="Retângulo de cantos arredondados 23">
            <a:hlinkClick r:id="" action="ppaction://hlinkshowjump?jump=firstslide"/>
          </p:cNvPr>
          <p:cNvSpPr/>
          <p:nvPr/>
        </p:nvSpPr>
        <p:spPr>
          <a:xfrm>
            <a:off x="281977" y="2248198"/>
            <a:ext cx="2252616" cy="714422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 smtClean="0"/>
              <a:t>Reiniciar</a:t>
            </a:r>
            <a:endParaRPr lang="pt-BR" sz="1400" b="1" dirty="0"/>
          </a:p>
        </p:txBody>
      </p:sp>
      <p:pic>
        <p:nvPicPr>
          <p:cNvPr id="2" name="tempo-acabou-show-do-milha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322638" y="-1720850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466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705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rgbClr val="001746"/>
            </a:gs>
            <a:gs pos="100000">
              <a:srgbClr val="3506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824" y="154079"/>
            <a:ext cx="3194218" cy="1798546"/>
          </a:xfrm>
          <a:prstGeom prst="rect">
            <a:avLst/>
          </a:prstGeom>
        </p:spPr>
      </p:pic>
      <p:pic>
        <p:nvPicPr>
          <p:cNvPr id="7174" name="Picture 6" descr="Receitas para Festas Juninas: Pamonha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614" y="1525792"/>
            <a:ext cx="1767551" cy="3046208"/>
          </a:xfrm>
          <a:prstGeom prst="rect">
            <a:avLst/>
          </a:prstGeom>
          <a:noFill/>
          <a:effectLst>
            <a:glow rad="1397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113765" y="4979015"/>
            <a:ext cx="59339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CERTA RESPOSTA!</a:t>
            </a:r>
            <a:endParaRPr lang="pt-BR" sz="5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4" name="certa-resposta-show-do-milha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967230" y="-185832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72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:dissolve/>
      </p:transition>
    </mc:Choice>
    <mc:Fallback>
      <p:transition spd="slow" advClick="0" advTm="500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50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rgbClr val="001746"/>
            </a:gs>
            <a:gs pos="100000">
              <a:srgbClr val="3506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Saberes e Fazeres em Nossas Mãos: RECEITA DE BOLO DE MILHO: MONTE SUA  ATIVIDADE E SUA AULA REMOTA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299" y="1661765"/>
            <a:ext cx="3935501" cy="4596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de cantos arredondados 1"/>
          <p:cNvSpPr/>
          <p:nvPr/>
        </p:nvSpPr>
        <p:spPr>
          <a:xfrm>
            <a:off x="1459706" y="759193"/>
            <a:ext cx="9272588" cy="1266825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 smtClean="0"/>
              <a:t>Qual é o nome dessa</a:t>
            </a:r>
          </a:p>
          <a:p>
            <a:pPr algn="ctr"/>
            <a:r>
              <a:rPr lang="pt-BR" sz="2800" dirty="0"/>
              <a:t>f</a:t>
            </a:r>
            <a:r>
              <a:rPr lang="pt-BR" sz="2800" dirty="0" smtClean="0"/>
              <a:t>órmula matemática: c2=a2+b2?</a:t>
            </a:r>
            <a:endParaRPr lang="pt-BR" sz="2800" b="1" dirty="0"/>
          </a:p>
        </p:txBody>
      </p:sp>
      <p:grpSp>
        <p:nvGrpSpPr>
          <p:cNvPr id="4" name="Grupo 3"/>
          <p:cNvGrpSpPr/>
          <p:nvPr/>
        </p:nvGrpSpPr>
        <p:grpSpPr>
          <a:xfrm>
            <a:off x="1743077" y="2675259"/>
            <a:ext cx="5689923" cy="654695"/>
            <a:chOff x="1743077" y="2453952"/>
            <a:chExt cx="5689923" cy="654695"/>
          </a:xfrm>
        </p:grpSpPr>
        <p:sp>
          <p:nvSpPr>
            <p:cNvPr id="8" name="Retângulo de cantos arredondados 7">
              <a:hlinkClick r:id="" action="ppaction://hlinkshowjump?jump=lastslide"/>
            </p:cNvPr>
            <p:cNvSpPr/>
            <p:nvPr/>
          </p:nvSpPr>
          <p:spPr>
            <a:xfrm>
              <a:off x="2032325" y="2511240"/>
              <a:ext cx="5400675" cy="540118"/>
            </a:xfrm>
            <a:prstGeom prst="round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 smtClean="0"/>
                <a:t>        Fórmula de </a:t>
              </a:r>
              <a:r>
                <a:rPr lang="pt-BR" dirty="0" err="1" smtClean="0"/>
                <a:t>Bhaskara</a:t>
              </a:r>
              <a:r>
                <a:rPr lang="pt-BR" dirty="0" smtClean="0"/>
                <a:t>.</a:t>
              </a:r>
              <a:endParaRPr lang="pt-BR" dirty="0"/>
            </a:p>
          </p:txBody>
        </p:sp>
        <p:sp>
          <p:nvSpPr>
            <p:cNvPr id="3" name="Elipse 2">
              <a:hlinkClick r:id="" action="ppaction://hlinkshowjump?jump=lastslide"/>
            </p:cNvPr>
            <p:cNvSpPr/>
            <p:nvPr/>
          </p:nvSpPr>
          <p:spPr>
            <a:xfrm>
              <a:off x="1743077" y="2453952"/>
              <a:ext cx="654695" cy="65469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pic>
        <p:nvPicPr>
          <p:cNvPr id="12" name="Imagem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9799" y="-217396"/>
            <a:ext cx="3789274" cy="2133600"/>
          </a:xfrm>
          <a:prstGeom prst="rect">
            <a:avLst/>
          </a:prstGeom>
        </p:spPr>
      </p:pic>
      <p:grpSp>
        <p:nvGrpSpPr>
          <p:cNvPr id="13" name="Grupo 12"/>
          <p:cNvGrpSpPr/>
          <p:nvPr/>
        </p:nvGrpSpPr>
        <p:grpSpPr>
          <a:xfrm>
            <a:off x="1743077" y="3556321"/>
            <a:ext cx="5689923" cy="654695"/>
            <a:chOff x="1743077" y="2453952"/>
            <a:chExt cx="5689923" cy="654695"/>
          </a:xfrm>
        </p:grpSpPr>
        <p:sp>
          <p:nvSpPr>
            <p:cNvPr id="14" name="Retângulo de cantos arredondados 13">
              <a:hlinkClick r:id="" action="ppaction://hlinkshowjump?jump=lastslide"/>
            </p:cNvPr>
            <p:cNvSpPr/>
            <p:nvPr/>
          </p:nvSpPr>
          <p:spPr>
            <a:xfrm>
              <a:off x="2032325" y="2511240"/>
              <a:ext cx="5400675" cy="540118"/>
            </a:xfrm>
            <a:prstGeom prst="round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/>
                <a:t> </a:t>
              </a:r>
              <a:r>
                <a:rPr lang="pt-BR" dirty="0" smtClean="0"/>
                <a:t>       Fórmula de Einstein.</a:t>
              </a:r>
              <a:endParaRPr lang="pt-BR" dirty="0"/>
            </a:p>
          </p:txBody>
        </p:sp>
        <p:sp>
          <p:nvSpPr>
            <p:cNvPr id="15" name="Elipse 14">
              <a:hlinkClick r:id="" action="ppaction://hlinkshowjump?jump=lastslide"/>
            </p:cNvPr>
            <p:cNvSpPr/>
            <p:nvPr/>
          </p:nvSpPr>
          <p:spPr>
            <a:xfrm>
              <a:off x="1743077" y="2453952"/>
              <a:ext cx="654695" cy="65469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6" name="Grupo 15"/>
          <p:cNvGrpSpPr/>
          <p:nvPr/>
        </p:nvGrpSpPr>
        <p:grpSpPr>
          <a:xfrm>
            <a:off x="1743077" y="4437383"/>
            <a:ext cx="5689923" cy="654695"/>
            <a:chOff x="1743077" y="2453952"/>
            <a:chExt cx="5689923" cy="654695"/>
          </a:xfrm>
        </p:grpSpPr>
        <p:sp>
          <p:nvSpPr>
            <p:cNvPr id="17" name="Retângulo de cantos arredondados 16">
              <a:hlinkClick r:id="" action="ppaction://hlinkshowjump?jump=lastslide"/>
            </p:cNvPr>
            <p:cNvSpPr/>
            <p:nvPr/>
          </p:nvSpPr>
          <p:spPr>
            <a:xfrm>
              <a:off x="2032325" y="2511240"/>
              <a:ext cx="5400675" cy="540118"/>
            </a:xfrm>
            <a:prstGeom prst="round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/>
                <a:t> </a:t>
              </a:r>
              <a:r>
                <a:rPr lang="pt-BR" dirty="0" smtClean="0"/>
                <a:t>       Equação quadrática.</a:t>
              </a:r>
              <a:endParaRPr lang="pt-BR" dirty="0"/>
            </a:p>
          </p:txBody>
        </p:sp>
        <p:sp>
          <p:nvSpPr>
            <p:cNvPr id="18" name="Elipse 17">
              <a:hlinkClick r:id="" action="ppaction://hlinkshowjump?jump=lastslide"/>
            </p:cNvPr>
            <p:cNvSpPr/>
            <p:nvPr/>
          </p:nvSpPr>
          <p:spPr>
            <a:xfrm>
              <a:off x="1743077" y="2453952"/>
              <a:ext cx="654695" cy="65469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pt-B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1743077" y="5318446"/>
            <a:ext cx="5689923" cy="654695"/>
            <a:chOff x="1743077" y="2453952"/>
            <a:chExt cx="5689923" cy="654695"/>
          </a:xfrm>
        </p:grpSpPr>
        <p:sp>
          <p:nvSpPr>
            <p:cNvPr id="20" name="Retângulo de cantos arredondados 19">
              <a:hlinkClick r:id="rId10" action="ppaction://hlinksldjump"/>
            </p:cNvPr>
            <p:cNvSpPr/>
            <p:nvPr/>
          </p:nvSpPr>
          <p:spPr>
            <a:xfrm>
              <a:off x="2032325" y="2511240"/>
              <a:ext cx="5400675" cy="540118"/>
            </a:xfrm>
            <a:prstGeom prst="round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 smtClean="0"/>
                <a:t>        Teorema de Pitágoras.</a:t>
              </a:r>
              <a:endParaRPr lang="pt-BR" dirty="0"/>
            </a:p>
          </p:txBody>
        </p:sp>
        <p:sp>
          <p:nvSpPr>
            <p:cNvPr id="21" name="Elipse 20">
              <a:hlinkClick r:id="rId10" action="ppaction://hlinksldjump"/>
            </p:cNvPr>
            <p:cNvSpPr/>
            <p:nvPr/>
          </p:nvSpPr>
          <p:spPr>
            <a:xfrm>
              <a:off x="1743077" y="2453952"/>
              <a:ext cx="654695" cy="65469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</p:grpSp>
      <p:pic>
        <p:nvPicPr>
          <p:cNvPr id="5" name="boa-sorte-show-do-milha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743077" y="-1686688"/>
            <a:ext cx="487363" cy="487363"/>
          </a:xfrm>
          <a:prstGeom prst="rect">
            <a:avLst/>
          </a:prstGeom>
        </p:spPr>
      </p:pic>
      <p:pic>
        <p:nvPicPr>
          <p:cNvPr id="22" name="perguntashowdomilhao_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5608637" y="-1709460"/>
            <a:ext cx="487363" cy="487362"/>
          </a:xfrm>
          <a:prstGeom prst="rect">
            <a:avLst/>
          </a:prstGeom>
        </p:spPr>
      </p:pic>
      <p:pic>
        <p:nvPicPr>
          <p:cNvPr id="23" name="suspense-show-do-milhao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428038" y="-1953141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39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30000">
        <p:circle/>
      </p:transition>
    </mc:Choice>
    <mc:Fallback>
      <p:transition spd="slow" advTm="30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235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1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52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121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371"/>
                            </p:stCondLst>
                            <p:childTnLst>
                              <p:par>
                                <p:cTn id="4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5" dur="10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4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 showWhenStopped="0">
                <p:cTn id="48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rgbClr val="001746"/>
            </a:gs>
            <a:gs pos="100000">
              <a:srgbClr val="3506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824" y="154079"/>
            <a:ext cx="3194218" cy="1798546"/>
          </a:xfrm>
          <a:prstGeom prst="rect">
            <a:avLst/>
          </a:prstGeom>
        </p:spPr>
      </p:pic>
      <p:pic>
        <p:nvPicPr>
          <p:cNvPr id="2050" name="Picture 2" descr="Corn Gif GIFs | Tenor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900" y="763679"/>
            <a:ext cx="5988050" cy="4557172"/>
          </a:xfrm>
          <a:prstGeom prst="rect">
            <a:avLst/>
          </a:prstGeom>
          <a:noFill/>
          <a:effectLst>
            <a:softEdge rad="4572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tângulo 21"/>
          <p:cNvSpPr/>
          <p:nvPr/>
        </p:nvSpPr>
        <p:spPr>
          <a:xfrm>
            <a:off x="2534593" y="5195637"/>
            <a:ext cx="7294592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6600" b="1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Seu tempo acabou!</a:t>
            </a:r>
            <a:endParaRPr lang="pt-BR" sz="28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4" name="Retângulo de cantos arredondados 23">
            <a:hlinkClick r:id="" action="ppaction://hlinkshowjump?jump=firstslide"/>
          </p:cNvPr>
          <p:cNvSpPr/>
          <p:nvPr/>
        </p:nvSpPr>
        <p:spPr>
          <a:xfrm>
            <a:off x="281977" y="2248198"/>
            <a:ext cx="2252616" cy="714422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 smtClean="0"/>
              <a:t>Reiniciar</a:t>
            </a:r>
            <a:endParaRPr lang="pt-BR" sz="1400" b="1" dirty="0"/>
          </a:p>
        </p:txBody>
      </p:sp>
      <p:pic>
        <p:nvPicPr>
          <p:cNvPr id="2" name="tempo-acabou-show-do-milha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322638" y="-1720850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59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705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rgbClr val="001746"/>
            </a:gs>
            <a:gs pos="100000">
              <a:srgbClr val="3506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824" y="154079"/>
            <a:ext cx="3194218" cy="1798546"/>
          </a:xfrm>
          <a:prstGeom prst="rect">
            <a:avLst/>
          </a:prstGeom>
        </p:spPr>
      </p:pic>
      <p:pic>
        <p:nvPicPr>
          <p:cNvPr id="7174" name="Picture 6" descr="Receitas para Festas Juninas: Pamonha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614" y="1525792"/>
            <a:ext cx="1767551" cy="3046208"/>
          </a:xfrm>
          <a:prstGeom prst="rect">
            <a:avLst/>
          </a:prstGeom>
          <a:noFill/>
          <a:effectLst>
            <a:glow rad="1397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113765" y="4979015"/>
            <a:ext cx="59339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CERTA RESPOSTA!</a:t>
            </a:r>
            <a:endParaRPr lang="pt-BR" sz="5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4" name="certa-resposta-show-do-milha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967230" y="-185832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561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:dissolve/>
      </p:transition>
    </mc:Choice>
    <mc:Fallback>
      <p:transition spd="slow" advClick="0" advTm="500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50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rgbClr val="001746"/>
            </a:gs>
            <a:gs pos="100000">
              <a:srgbClr val="3506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" y="199799"/>
            <a:ext cx="3194218" cy="1798546"/>
          </a:xfrm>
          <a:prstGeom prst="rect">
            <a:avLst/>
          </a:prstGeom>
        </p:spPr>
      </p:pic>
      <p:sp>
        <p:nvSpPr>
          <p:cNvPr id="13" name="Retângulo de cantos arredondados 12">
            <a:hlinkClick r:id="" action="ppaction://hlinkshowjump?jump=firstslide"/>
          </p:cNvPr>
          <p:cNvSpPr/>
          <p:nvPr/>
        </p:nvSpPr>
        <p:spPr>
          <a:xfrm>
            <a:off x="9422863" y="5629002"/>
            <a:ext cx="2252616" cy="714422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 smtClean="0"/>
              <a:t>Reiniciar</a:t>
            </a:r>
            <a:endParaRPr lang="pt-BR" sz="1400" b="1" dirty="0"/>
          </a:p>
        </p:txBody>
      </p:sp>
      <p:pic>
        <p:nvPicPr>
          <p:cNvPr id="8194" name="Picture 2" descr="Gifs de Gatos: Gif Gato comendo milho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5454" y="1410017"/>
            <a:ext cx="6580505" cy="4372382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  <a:softEdge rad="635000"/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8" name="Retângulo 7"/>
          <p:cNvSpPr/>
          <p:nvPr/>
        </p:nvSpPr>
        <p:spPr>
          <a:xfrm>
            <a:off x="4093482" y="5594174"/>
            <a:ext cx="42413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Você ganhou!</a:t>
            </a:r>
            <a:endParaRPr lang="pt-BR" sz="5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2" name="silvio-santos-parabens-ganhar-1-milhao-de-reais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610642" y="-207168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023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331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rgbClr val="001746"/>
            </a:gs>
            <a:gs pos="100000">
              <a:srgbClr val="3506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Galinha Correndo com Milho by Kamarugo on DeviantArt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118" y="0"/>
            <a:ext cx="4348270" cy="4826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2412677" y="4311717"/>
            <a:ext cx="7294592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13800" b="1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ERROU!</a:t>
            </a:r>
            <a:endParaRPr lang="pt-BR" sz="5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" y="199799"/>
            <a:ext cx="3194218" cy="1798546"/>
          </a:xfrm>
          <a:prstGeom prst="rect">
            <a:avLst/>
          </a:prstGeom>
        </p:spPr>
      </p:pic>
      <p:pic>
        <p:nvPicPr>
          <p:cNvPr id="7" name="errou-show-do-milha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200400" y="-1249363"/>
            <a:ext cx="487363" cy="487363"/>
          </a:xfrm>
          <a:prstGeom prst="rect">
            <a:avLst/>
          </a:prstGeom>
        </p:spPr>
      </p:pic>
      <p:sp>
        <p:nvSpPr>
          <p:cNvPr id="13" name="Retângulo de cantos arredondados 12">
            <a:hlinkClick r:id="" action="ppaction://hlinkshowjump?jump=firstslide"/>
          </p:cNvPr>
          <p:cNvSpPr/>
          <p:nvPr/>
        </p:nvSpPr>
        <p:spPr>
          <a:xfrm>
            <a:off x="476983" y="2245722"/>
            <a:ext cx="2252616" cy="714422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 smtClean="0"/>
              <a:t>Reiniciar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868478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506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567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13" grpId="0" animBg="1"/>
    </p:bldLst>
  </p:timing>
</p:sld>
</file>

<file path=ppt/theme/theme1.xml><?xml version="1.0" encoding="utf-8"?>
<a:theme xmlns:a="http://schemas.openxmlformats.org/drawingml/2006/main" name="Profundidade">
  <a:themeElements>
    <a:clrScheme name="Profundidad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undidad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undida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TM04033923[[fn=Profundidade]]</Template>
  <TotalTime>184</TotalTime>
  <Words>133</Words>
  <Application>Microsoft Office PowerPoint</Application>
  <PresentationFormat>Widescreen</PresentationFormat>
  <Paragraphs>43</Paragraphs>
  <Slides>12</Slides>
  <Notes>0</Notes>
  <HiddenSlides>0</HiddenSlides>
  <MMClips>18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Corbel</vt:lpstr>
      <vt:lpstr>Profundidade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Jeterson Lordano</dc:creator>
  <cp:lastModifiedBy>Jeterson Lordano</cp:lastModifiedBy>
  <cp:revision>20</cp:revision>
  <dcterms:created xsi:type="dcterms:W3CDTF">2023-11-30T01:26:38Z</dcterms:created>
  <dcterms:modified xsi:type="dcterms:W3CDTF">2023-11-30T04:31:28Z</dcterms:modified>
</cp:coreProperties>
</file>